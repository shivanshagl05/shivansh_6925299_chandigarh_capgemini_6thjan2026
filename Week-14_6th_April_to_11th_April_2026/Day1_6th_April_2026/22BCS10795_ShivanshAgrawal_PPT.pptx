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67" r:id="rId2"/>
    <p:sldId id="300" r:id="rId3"/>
    <p:sldId id="301" r:id="rId4"/>
    <p:sldId id="306" r:id="rId5"/>
    <p:sldId id="307" r:id="rId6"/>
    <p:sldId id="308" r:id="rId7"/>
    <p:sldId id="309" r:id="rId8"/>
    <p:sldId id="311" r:id="rId9"/>
    <p:sldId id="312" r:id="rId10"/>
    <p:sldId id="305" r:id="rId11"/>
  </p:sldIdLst>
  <p:sldSz cx="14630400" cy="8229600"/>
  <p:notesSz cx="8229600" cy="14630400"/>
  <p:embeddedFontLst>
    <p:embeddedFont>
      <p:font typeface="Cambria" panose="02040503050406030204" pitchFamily="18" charset="0"/>
      <p:regular r:id="rId13"/>
      <p:bold r:id="rId14"/>
      <p:italic r:id="rId15"/>
      <p:boldItalic r:id="rId16"/>
    </p:embeddedFont>
    <p:embeddedFont>
      <p:font typeface="Vladimir Script" panose="03050402040407070305" pitchFamily="66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28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7395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18896A3-CA15-4C87-8FB7-24487FE57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9BF4E4D-8363-3E77-BFA5-048BFD297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1179ABD-E767-1A65-FB79-9B790ADA6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033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4F620C0-63AC-1CDF-E5F1-9993B00CB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0394A46B-0933-B4FF-7E14-0108B59044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F5794D3-21AA-29C1-5955-DD38834CF3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8220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DC82BE0E-49CF-6791-BDCD-2E08E0C4E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56A00029-052A-F8EB-2F16-30E605CC78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DE3B712-BC7F-B779-206E-ECADE5E1D7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18042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180E5D45-A13B-BBAA-DEF8-A39FB26EF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AF28E4CF-A23A-64A5-8923-8F5523DE2D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53D723-86C5-F606-41BA-7CAD8348E9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2720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243CE7A-3619-03A6-8F96-0705A8AF9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53DD07E4-C80B-83C6-0272-548747401A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D85FC87-CF70-145D-EF62-A0CB4E6E7B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481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7D354942-1C77-5DC3-0910-965B69687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BC1EFC6-4E1A-9C4D-801E-BA774BD42E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72830C36-8DFF-1EB2-FF50-7F2DC7F821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5796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1DF5D558-81F5-D43F-DF31-60E868656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E4D89AED-5EA0-BD2E-87FD-4A1B8BF1A0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B299289-19BE-DEC1-844A-E85346F119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1684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Title and Conten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1463040" y="2103120"/>
            <a:ext cx="12801600" cy="53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731520" marR="0" lvl="0" indent="-609600" algn="l">
              <a:lnSpc>
                <a:spcPct val="115000"/>
              </a:lnSpc>
              <a:spcBef>
                <a:spcPts val="768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384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63040" marR="0" lvl="1" indent="-56896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2194560" marR="0" lvl="2" indent="-56896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926080" marR="0" lvl="3" indent="-548640" algn="l">
              <a:lnSpc>
                <a:spcPct val="115000"/>
              </a:lnSpc>
              <a:spcBef>
                <a:spcPts val="576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8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657600" marR="0" lvl="4" indent="-548640" algn="l">
              <a:lnSpc>
                <a:spcPct val="115000"/>
              </a:lnSpc>
              <a:spcBef>
                <a:spcPts val="576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8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389120" marR="0" lvl="5" indent="-56896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5120640" marR="0" lvl="6" indent="-568960" algn="l">
              <a:lnSpc>
                <a:spcPct val="115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5852160" marR="0" lvl="7" indent="-568960" algn="l">
              <a:lnSpc>
                <a:spcPct val="115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6583680" marR="0" lvl="8" indent="-568960" algn="l">
              <a:lnSpc>
                <a:spcPct val="115000"/>
              </a:lnSpc>
              <a:spcBef>
                <a:spcPts val="1920"/>
              </a:spcBef>
              <a:spcAft>
                <a:spcPts val="1920"/>
              </a:spcAft>
              <a:buClr>
                <a:schemeClr val="dk1"/>
              </a:buClr>
              <a:buSzPts val="20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450" y="35255"/>
            <a:ext cx="1043698" cy="1678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369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83D2F74-3EE7-B90D-7168-93C452576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1668" y="7302279"/>
            <a:ext cx="3515216" cy="905001"/>
          </a:xfrm>
          <a:prstGeom prst="rect">
            <a:avLst/>
          </a:prstGeom>
        </p:spPr>
      </p:pic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60" y="1948028"/>
            <a:ext cx="4452773" cy="4452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10515600" y="7810501"/>
            <a:ext cx="3291840" cy="43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2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12474621" y="6860101"/>
            <a:ext cx="1549440" cy="138864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2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8455678" y="-78104"/>
            <a:ext cx="6174720" cy="702384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2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2548890" y="2430632"/>
            <a:ext cx="8195520" cy="189696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>
              <a:buClr>
                <a:schemeClr val="lt1"/>
              </a:buClr>
              <a:buSzPts val="1800"/>
            </a:pPr>
            <a:endParaRPr sz="288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11776800" y="6286800"/>
            <a:ext cx="2839680" cy="192048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2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44480" y="2361100"/>
            <a:ext cx="13141440" cy="2816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80" tIns="73120" rIns="146280" bIns="73120" anchor="t" anchorCtr="0">
            <a:sp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32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Project Viva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>
              <a:lnSpc>
                <a:spcPct val="90000"/>
              </a:lnSpc>
              <a:buClr>
                <a:schemeClr val="dk1"/>
              </a:buClr>
              <a:buSzPts val="3200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90000"/>
              </a:lnSpc>
              <a:buClr>
                <a:schemeClr val="dk1"/>
              </a:buClr>
              <a:buSzPts val="3200"/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SEMESTER-8</a:t>
            </a:r>
          </a:p>
          <a:p>
            <a:pPr algn="ctr">
              <a:lnSpc>
                <a:spcPct val="90000"/>
              </a:lnSpc>
              <a:buClr>
                <a:schemeClr val="dk1"/>
              </a:buClr>
              <a:buSzPts val="3200"/>
            </a:pP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Times New Roman"/>
            </a:endParaRPr>
          </a:p>
          <a:p>
            <a:pPr algn="ctr">
              <a:lnSpc>
                <a:spcPct val="90000"/>
              </a:lnSpc>
              <a:buClr>
                <a:schemeClr val="dk1"/>
              </a:buClr>
              <a:buSzPts val="3200"/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Topic: SmartHealthCare</a:t>
            </a:r>
          </a:p>
          <a:p>
            <a:pPr algn="ctr">
              <a:lnSpc>
                <a:spcPct val="90000"/>
              </a:lnSpc>
              <a:spcBef>
                <a:spcPts val="1792"/>
              </a:spcBef>
              <a:buClr>
                <a:schemeClr val="dk1"/>
              </a:buClr>
              <a:buSzPts val="2800"/>
            </a:pPr>
            <a:endParaRPr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9D2FAA-511B-0C07-28D0-64CFFAAD0516}"/>
              </a:ext>
            </a:extLst>
          </p:cNvPr>
          <p:cNvSpPr txBox="1"/>
          <p:nvPr/>
        </p:nvSpPr>
        <p:spPr>
          <a:xfrm>
            <a:off x="466927" y="6281572"/>
            <a:ext cx="40923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Submitted By: </a:t>
            </a:r>
          </a:p>
          <a:p>
            <a:r>
              <a:rPr lang="en-IN" dirty="0"/>
              <a:t>Student Name: Shivansh Agrawal</a:t>
            </a:r>
          </a:p>
          <a:p>
            <a:r>
              <a:rPr lang="en-IN" dirty="0"/>
              <a:t>UID: 22BCS10795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68EE3B-F97C-9832-D238-A4AF63938781}"/>
              </a:ext>
            </a:extLst>
          </p:cNvPr>
          <p:cNvSpPr txBox="1"/>
          <p:nvPr/>
        </p:nvSpPr>
        <p:spPr>
          <a:xfrm>
            <a:off x="10515600" y="6558571"/>
            <a:ext cx="29961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Supervision of: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Ms. Krishna Kumari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7C3126-9F5F-B19A-67F4-F6A83B1AF898}"/>
              </a:ext>
            </a:extLst>
          </p:cNvPr>
          <p:cNvSpPr txBox="1"/>
          <p:nvPr/>
        </p:nvSpPr>
        <p:spPr>
          <a:xfrm>
            <a:off x="744480" y="7571598"/>
            <a:ext cx="3515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</a:t>
            </a:r>
          </a:p>
        </p:txBody>
      </p:sp>
      <p:sp>
        <p:nvSpPr>
          <p:cNvPr id="8" name="Google Shape;258;p1">
            <a:extLst>
              <a:ext uri="{FF2B5EF4-FFF2-40B4-BE49-F238E27FC236}">
                <a16:creationId xmlns:a16="http://schemas.microsoft.com/office/drawing/2014/main" id="{7625AFB4-613A-1BBE-03B0-7E898406783E}"/>
              </a:ext>
            </a:extLst>
          </p:cNvPr>
          <p:cNvSpPr/>
          <p:nvPr/>
        </p:nvSpPr>
        <p:spPr>
          <a:xfrm>
            <a:off x="698761" y="7653390"/>
            <a:ext cx="45719" cy="37623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395919" y="935000"/>
            <a:ext cx="13243362" cy="71136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146280" tIns="146280" rIns="146280" bIns="146280" anchor="ctr" anchorCtr="0">
              <a:noAutofit/>
            </a:bodyPr>
            <a:lstStyle/>
            <a:p>
              <a:endParaRPr sz="2880"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15800" tIns="115800" rIns="115800" bIns="11580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rgbClr val="000000"/>
                </a:buClr>
                <a:buSzPts val="1900"/>
              </a:pPr>
              <a:endPara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16800" y="2275240"/>
            <a:ext cx="12801600" cy="466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80" tIns="73120" rIns="146280" bIns="73120" anchor="t" anchorCtr="0">
            <a:normAutofit/>
          </a:bodyPr>
          <a:lstStyle/>
          <a:p>
            <a:pPr marL="548640" indent="-54864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48640" indent="-548640" algn="just">
              <a:lnSpc>
                <a:spcPct val="10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395869" y="1967313"/>
            <a:ext cx="11569152" cy="287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80" tIns="73120" rIns="146280" bIns="73120" anchor="t" anchorCtr="0">
            <a:spAutoFit/>
          </a:bodyPr>
          <a:lstStyle/>
          <a:p>
            <a:pPr marL="228600" lvl="0" indent="-1143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CAPGEMINI:</a:t>
            </a:r>
          </a:p>
          <a:p>
            <a:pPr marL="228600" lvl="0" indent="-1143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</a:pP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Capgemini is a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leader in IT services, consulting, and digital transformation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Founded in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1967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headquartered in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Paris, France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Operates in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50+ countries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with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3,50,000+ employees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innovative solutions to businesses worldwide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8BFA91-5661-9F52-6E96-4668E3F19FAA}"/>
              </a:ext>
            </a:extLst>
          </p:cNvPr>
          <p:cNvSpPr txBox="1"/>
          <p:nvPr/>
        </p:nvSpPr>
        <p:spPr>
          <a:xfrm>
            <a:off x="1118681" y="935000"/>
            <a:ext cx="47665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Company</a:t>
            </a:r>
          </a:p>
        </p:txBody>
      </p:sp>
    </p:spTree>
    <p:extLst>
      <p:ext uri="{BB962C8B-B14F-4D97-AF65-F5344CB8AC3E}">
        <p14:creationId xmlns:p14="http://schemas.microsoft.com/office/powerpoint/2010/main" val="2294786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87ED0C6-7719-FB97-ED94-7F5CE38D0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1D700B6-6EB7-B931-A6BA-3293795C4FD6}"/>
              </a:ext>
            </a:extLst>
          </p:cNvPr>
          <p:cNvGrpSpPr/>
          <p:nvPr/>
        </p:nvGrpSpPr>
        <p:grpSpPr>
          <a:xfrm>
            <a:off x="1145378" y="-68593"/>
            <a:ext cx="13243362" cy="1947960"/>
            <a:chOff x="0" y="6299"/>
            <a:chExt cx="5580934" cy="1217475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9F7BC64-7A52-69C2-0340-DEC4747604C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146280" tIns="146280" rIns="146280" bIns="146280" anchor="ctr" anchorCtr="0">
              <a:noAutofit/>
            </a:bodyPr>
            <a:lstStyle/>
            <a:p>
              <a:endParaRPr sz="2880"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DD12C81D-38E2-6BA8-4944-E9161F70F1EA}"/>
                </a:ext>
              </a:extLst>
            </p:cNvPr>
            <p:cNvSpPr txBox="1"/>
            <p:nvPr/>
          </p:nvSpPr>
          <p:spPr>
            <a:xfrm>
              <a:off x="0" y="822582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15800" tIns="115800" rIns="115800" bIns="115800" anchor="ctr" anchorCtr="0">
              <a:noAutofit/>
            </a:bodyPr>
            <a:lstStyle/>
            <a:p>
              <a:pPr lvl="0" algn="just">
                <a:lnSpc>
                  <a:spcPct val="90000"/>
                </a:lnSpc>
                <a:buSzPts val="1900"/>
              </a:pPr>
              <a:endPara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5AD00F48-AF9F-87AF-B3AB-2CA9606A4E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4535" y="1782960"/>
            <a:ext cx="12801600" cy="466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80" tIns="73120" rIns="146280" bIns="73120" anchor="t" anchorCtr="0">
            <a:normAutofit/>
          </a:bodyPr>
          <a:lstStyle/>
          <a:p>
            <a:pPr marL="548640" indent="-54864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48640" indent="-548640" algn="just">
              <a:lnSpc>
                <a:spcPct val="10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FCE19B-0563-77E1-A111-93467B357E2A}"/>
              </a:ext>
            </a:extLst>
          </p:cNvPr>
          <p:cNvSpPr txBox="1"/>
          <p:nvPr/>
        </p:nvSpPr>
        <p:spPr>
          <a:xfrm>
            <a:off x="1034265" y="1879367"/>
            <a:ext cx="9144000" cy="3366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CAPGEMINI</a:t>
            </a:r>
          </a:p>
          <a:p>
            <a:pPr marL="228600" lvl="0" indent="-1143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Exposure to 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industry projects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Opportunity to learn 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technologies like .NET &amp; Azure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 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mentorship programs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building 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+ professional skills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8866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4DCB821-59FC-A8ED-A596-0AD284DF7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9292BD5-271A-596F-1C57-4F9DF9C46116}"/>
              </a:ext>
            </a:extLst>
          </p:cNvPr>
          <p:cNvGrpSpPr/>
          <p:nvPr/>
        </p:nvGrpSpPr>
        <p:grpSpPr>
          <a:xfrm>
            <a:off x="1145378" y="-68593"/>
            <a:ext cx="13243362" cy="1947960"/>
            <a:chOff x="0" y="6299"/>
            <a:chExt cx="5580934" cy="1217475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F5854B3F-0D1E-643B-EC59-DF96DFA09B8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146280" tIns="146280" rIns="146280" bIns="146280" anchor="ctr" anchorCtr="0">
              <a:noAutofit/>
            </a:bodyPr>
            <a:lstStyle/>
            <a:p>
              <a:endParaRPr sz="2880"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E7530BF-0B0A-CE40-965A-4DF291B9D9E5}"/>
                </a:ext>
              </a:extLst>
            </p:cNvPr>
            <p:cNvSpPr txBox="1"/>
            <p:nvPr/>
          </p:nvSpPr>
          <p:spPr>
            <a:xfrm>
              <a:off x="0" y="822582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15800" tIns="115800" rIns="115800" bIns="115800" anchor="ctr" anchorCtr="0">
              <a:noAutofit/>
            </a:bodyPr>
            <a:lstStyle/>
            <a:p>
              <a:pPr lvl="0" algn="just">
                <a:lnSpc>
                  <a:spcPct val="90000"/>
                </a:lnSpc>
                <a:buSzPts val="1900"/>
              </a:pPr>
              <a:endPara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6D1A2F9-12DA-37FD-2675-EE1867E19E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4535" y="1782960"/>
            <a:ext cx="12801600" cy="466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80" tIns="73120" rIns="146280" bIns="73120" anchor="t" anchorCtr="0">
            <a:normAutofit/>
          </a:bodyPr>
          <a:lstStyle/>
          <a:p>
            <a:pPr marL="548640" indent="-54864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48640" indent="-548640" algn="just">
              <a:lnSpc>
                <a:spcPct val="10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E0BD22-038B-09F4-2A9E-4633E4A89004}"/>
              </a:ext>
            </a:extLst>
          </p:cNvPr>
          <p:cNvSpPr txBox="1"/>
          <p:nvPr/>
        </p:nvSpPr>
        <p:spPr>
          <a:xfrm>
            <a:off x="1034264" y="1879367"/>
            <a:ext cx="12450757" cy="3366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PROFILE OVERVIEW:</a:t>
            </a:r>
          </a:p>
          <a:p>
            <a:pPr marL="228600" lvl="0" indent="-1143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the training period, the role also involved gaining hands-on experience in 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development using .NET technologies and cloud deployment using Microsoft Azure</a:t>
            </a:r>
          </a:p>
          <a:p>
            <a:pPr>
              <a:lnSpc>
                <a:spcPct val="10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profile requires both 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thinking and technical understanding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6121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74C184F4-D9DA-9BF7-746E-20AA788ED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2137F9E3-77E5-81F8-4A37-30818CD4FD01}"/>
              </a:ext>
            </a:extLst>
          </p:cNvPr>
          <p:cNvGrpSpPr/>
          <p:nvPr/>
        </p:nvGrpSpPr>
        <p:grpSpPr>
          <a:xfrm>
            <a:off x="1145378" y="-68593"/>
            <a:ext cx="13243362" cy="1947960"/>
            <a:chOff x="0" y="6299"/>
            <a:chExt cx="5580934" cy="1217475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EB97FC0A-84DD-3886-B96B-5B8B69B7277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146280" tIns="146280" rIns="146280" bIns="146280" anchor="ctr" anchorCtr="0">
              <a:noAutofit/>
            </a:bodyPr>
            <a:lstStyle/>
            <a:p>
              <a:endParaRPr sz="2880"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52AF4E32-0DB4-ACE5-5496-D1E29BF4B05E}"/>
                </a:ext>
              </a:extLst>
            </p:cNvPr>
            <p:cNvSpPr txBox="1"/>
            <p:nvPr/>
          </p:nvSpPr>
          <p:spPr>
            <a:xfrm>
              <a:off x="0" y="822582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15800" tIns="115800" rIns="115800" bIns="115800" anchor="ctr" anchorCtr="0">
              <a:noAutofit/>
            </a:bodyPr>
            <a:lstStyle/>
            <a:p>
              <a:pPr lvl="0" algn="just">
                <a:lnSpc>
                  <a:spcPct val="90000"/>
                </a:lnSpc>
                <a:buSzPts val="1900"/>
              </a:pPr>
              <a:endPara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A59499-2F5B-3CBD-FC7A-9DE9C98FD9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4535" y="1782960"/>
            <a:ext cx="12801600" cy="466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80" tIns="73120" rIns="146280" bIns="73120" anchor="t" anchorCtr="0">
            <a:normAutofit/>
          </a:bodyPr>
          <a:lstStyle/>
          <a:p>
            <a:pPr marL="548640" indent="-54864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48640" indent="-548640" algn="just">
              <a:lnSpc>
                <a:spcPct val="10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526483-6643-47BD-1232-04F278AA45B3}"/>
              </a:ext>
            </a:extLst>
          </p:cNvPr>
          <p:cNvSpPr txBox="1"/>
          <p:nvPr/>
        </p:nvSpPr>
        <p:spPr>
          <a:xfrm>
            <a:off x="1034264" y="1879367"/>
            <a:ext cx="12450757" cy="3761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0" indent="-1143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ROLES &amp; RESPONSIBILITIES:</a:t>
            </a:r>
          </a:p>
          <a:p>
            <a:pPr marL="114300" indent="0">
              <a:buNone/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Involved in 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and analyzing project requirements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 translating them into technical tasks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Assisted in developing backend applications using 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 and ASP.NET Core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 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operations using SQL Server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including data retrieval and manipulation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970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A665A539-11B5-8F78-4B3D-ADD6001AB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FD4138F-DFD1-9CED-2BCE-B89FEC592DF1}"/>
              </a:ext>
            </a:extLst>
          </p:cNvPr>
          <p:cNvGrpSpPr/>
          <p:nvPr/>
        </p:nvGrpSpPr>
        <p:grpSpPr>
          <a:xfrm>
            <a:off x="1145378" y="-68593"/>
            <a:ext cx="13243362" cy="1947960"/>
            <a:chOff x="0" y="6299"/>
            <a:chExt cx="5580934" cy="1217475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63F816E-52DA-4947-D720-96484E1E31A6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146280" tIns="146280" rIns="146280" bIns="146280" anchor="ctr" anchorCtr="0">
              <a:noAutofit/>
            </a:bodyPr>
            <a:lstStyle/>
            <a:p>
              <a:endParaRPr sz="2880"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DBFE74C5-09B3-1620-134A-3EE0C0050BF6}"/>
                </a:ext>
              </a:extLst>
            </p:cNvPr>
            <p:cNvSpPr txBox="1"/>
            <p:nvPr/>
          </p:nvSpPr>
          <p:spPr>
            <a:xfrm>
              <a:off x="0" y="822582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15800" tIns="115800" rIns="115800" bIns="115800" anchor="ctr" anchorCtr="0">
              <a:noAutofit/>
            </a:bodyPr>
            <a:lstStyle/>
            <a:p>
              <a:pPr lvl="0" algn="just">
                <a:lnSpc>
                  <a:spcPct val="90000"/>
                </a:lnSpc>
                <a:buSzPts val="1900"/>
              </a:pPr>
              <a:endPara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2FE82AC2-C092-3423-9A9C-655A0C94CA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4535" y="1782960"/>
            <a:ext cx="12801600" cy="466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80" tIns="73120" rIns="146280" bIns="73120" anchor="t" anchorCtr="0">
            <a:normAutofit/>
          </a:bodyPr>
          <a:lstStyle/>
          <a:p>
            <a:pPr marL="548640" indent="-54864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48640" indent="-548640" algn="just">
              <a:lnSpc>
                <a:spcPct val="10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767702-493F-9366-3D7A-9284BEF82AF8}"/>
              </a:ext>
            </a:extLst>
          </p:cNvPr>
          <p:cNvSpPr txBox="1"/>
          <p:nvPr/>
        </p:nvSpPr>
        <p:spPr>
          <a:xfrm>
            <a:off x="1145377" y="963038"/>
            <a:ext cx="4029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SmartHealthCare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BF1FCE2-1212-C160-74E2-A492D4321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410" y="1854489"/>
            <a:ext cx="12697579" cy="4955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About Project: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 the existing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SmartHealthCare system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improve efficiency and usability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Introduce better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patient data management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accurate and secure record handling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experience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both patients and healthcare providers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 faster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appointment scheduling and tracking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Strengthen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security and privacy measures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59395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2F556E0A-6644-8BF2-423E-8F577AF41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F6DE67B6-C59A-9361-1884-6A5AFFFEF0C3}"/>
              </a:ext>
            </a:extLst>
          </p:cNvPr>
          <p:cNvGrpSpPr/>
          <p:nvPr/>
        </p:nvGrpSpPr>
        <p:grpSpPr>
          <a:xfrm>
            <a:off x="1145378" y="-68593"/>
            <a:ext cx="13243362" cy="1947960"/>
            <a:chOff x="0" y="6299"/>
            <a:chExt cx="5580934" cy="1217475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B9E67B4D-4D67-A0F0-1527-B20D7E45DDE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146280" tIns="146280" rIns="146280" bIns="146280" anchor="ctr" anchorCtr="0">
              <a:noAutofit/>
            </a:bodyPr>
            <a:lstStyle/>
            <a:p>
              <a:endParaRPr sz="2880"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50DEC700-9301-0436-778C-8664F1AEE3AE}"/>
                </a:ext>
              </a:extLst>
            </p:cNvPr>
            <p:cNvSpPr txBox="1"/>
            <p:nvPr/>
          </p:nvSpPr>
          <p:spPr>
            <a:xfrm>
              <a:off x="0" y="822582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15800" tIns="115800" rIns="115800" bIns="115800" anchor="ctr" anchorCtr="0">
              <a:noAutofit/>
            </a:bodyPr>
            <a:lstStyle/>
            <a:p>
              <a:pPr lvl="0" algn="just">
                <a:lnSpc>
                  <a:spcPct val="90000"/>
                </a:lnSpc>
                <a:buSzPts val="1900"/>
              </a:pPr>
              <a:endPara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AA157B08-7AD8-7256-A48B-997889B2F5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4535" y="1782960"/>
            <a:ext cx="12801600" cy="466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80" tIns="73120" rIns="146280" bIns="73120" anchor="t" anchorCtr="0">
            <a:normAutofit/>
          </a:bodyPr>
          <a:lstStyle/>
          <a:p>
            <a:pPr marL="548640" indent="-54864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48640" indent="-548640" algn="just">
              <a:lnSpc>
                <a:spcPct val="10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A9EFE1-ECD5-0930-D738-70FB6EC9C918}"/>
              </a:ext>
            </a:extLst>
          </p:cNvPr>
          <p:cNvSpPr txBox="1"/>
          <p:nvPr/>
        </p:nvSpPr>
        <p:spPr>
          <a:xfrm>
            <a:off x="1034264" y="1879367"/>
            <a:ext cx="1245075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  <a:p>
            <a:pPr marL="114300" indent="0">
              <a:buNone/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system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Improved UI/UX for easier navigation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Enhanced appointment booking system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Fixed performance and latency issues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Integrated cloud deployment (Azure) for better availability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089FDA-9D14-B487-EBF5-A27938782A93}"/>
              </a:ext>
            </a:extLst>
          </p:cNvPr>
          <p:cNvSpPr txBox="1"/>
          <p:nvPr/>
        </p:nvSpPr>
        <p:spPr>
          <a:xfrm>
            <a:off x="1145378" y="963038"/>
            <a:ext cx="4914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SmartHealthCare</a:t>
            </a:r>
          </a:p>
        </p:txBody>
      </p:sp>
    </p:spTree>
    <p:extLst>
      <p:ext uri="{BB962C8B-B14F-4D97-AF65-F5344CB8AC3E}">
        <p14:creationId xmlns:p14="http://schemas.microsoft.com/office/powerpoint/2010/main" val="1824079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F0FE095C-7B52-0265-A340-3EDC3EB98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57DA3317-945C-4F19-C7CE-D5B45B6CF443}"/>
              </a:ext>
            </a:extLst>
          </p:cNvPr>
          <p:cNvGrpSpPr/>
          <p:nvPr/>
        </p:nvGrpSpPr>
        <p:grpSpPr>
          <a:xfrm>
            <a:off x="1145378" y="-68593"/>
            <a:ext cx="13243362" cy="1947960"/>
            <a:chOff x="0" y="6299"/>
            <a:chExt cx="5580934" cy="1217475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215E0F4-6483-DC84-DFCE-1BD270B3794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146280" tIns="146280" rIns="146280" bIns="146280" anchor="ctr" anchorCtr="0">
              <a:noAutofit/>
            </a:bodyPr>
            <a:lstStyle/>
            <a:p>
              <a:endParaRPr sz="2880"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DD0AC3D-6DDD-BAC4-AF4C-A8CFDFF6C7F7}"/>
                </a:ext>
              </a:extLst>
            </p:cNvPr>
            <p:cNvSpPr txBox="1"/>
            <p:nvPr/>
          </p:nvSpPr>
          <p:spPr>
            <a:xfrm>
              <a:off x="0" y="822582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15800" tIns="115800" rIns="115800" bIns="115800" anchor="ctr" anchorCtr="0">
              <a:noAutofit/>
            </a:bodyPr>
            <a:lstStyle/>
            <a:p>
              <a:pPr lvl="0" algn="just">
                <a:lnSpc>
                  <a:spcPct val="90000"/>
                </a:lnSpc>
                <a:buSzPts val="1900"/>
              </a:pPr>
              <a:endPara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46144B32-5EB9-5BAB-9F1A-CC494B85F5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4535" y="1782960"/>
            <a:ext cx="12801600" cy="466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80" tIns="73120" rIns="146280" bIns="73120" anchor="t" anchorCtr="0">
            <a:normAutofit/>
          </a:bodyPr>
          <a:lstStyle/>
          <a:p>
            <a:pPr marL="548640" indent="-54864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48640" indent="-548640" algn="just">
              <a:lnSpc>
                <a:spcPct val="10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E58F19-667B-CEBE-127E-EAED550BEB56}"/>
              </a:ext>
            </a:extLst>
          </p:cNvPr>
          <p:cNvSpPr txBox="1"/>
          <p:nvPr/>
        </p:nvSpPr>
        <p:spPr>
          <a:xfrm>
            <a:off x="1034264" y="1879367"/>
            <a:ext cx="124507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Stack:</a:t>
            </a:r>
          </a:p>
          <a:p>
            <a:pPr marL="114300" indent="0">
              <a:buNone/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372685-DDEB-69AB-B1F4-54117CA8A122}"/>
              </a:ext>
            </a:extLst>
          </p:cNvPr>
          <p:cNvSpPr txBox="1"/>
          <p:nvPr/>
        </p:nvSpPr>
        <p:spPr>
          <a:xfrm>
            <a:off x="1145377" y="963038"/>
            <a:ext cx="4603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SmartHealthCare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C0D0100-CF5D-3B3E-2483-A89913BD9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5378" y="2422029"/>
            <a:ext cx="5334602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.NET Razor Pages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Backend: .NET Web API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Database: SQL Server Database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Cloud: Microsoft Azure </a:t>
            </a:r>
          </a:p>
        </p:txBody>
      </p:sp>
    </p:spTree>
    <p:extLst>
      <p:ext uri="{BB962C8B-B14F-4D97-AF65-F5344CB8AC3E}">
        <p14:creationId xmlns:p14="http://schemas.microsoft.com/office/powerpoint/2010/main" val="2294349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A4EE2C70-8885-7652-3538-3A31EE187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0CC97C2A-A36A-6869-A56E-6508960F9A71}"/>
              </a:ext>
            </a:extLst>
          </p:cNvPr>
          <p:cNvGrpSpPr/>
          <p:nvPr/>
        </p:nvGrpSpPr>
        <p:grpSpPr>
          <a:xfrm>
            <a:off x="1145378" y="-68593"/>
            <a:ext cx="13243362" cy="1947960"/>
            <a:chOff x="0" y="6299"/>
            <a:chExt cx="5580934" cy="1217475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56E4B956-3B14-0519-ED13-5C9BF64156D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146280" tIns="146280" rIns="146280" bIns="146280" anchor="ctr" anchorCtr="0">
              <a:noAutofit/>
            </a:bodyPr>
            <a:lstStyle/>
            <a:p>
              <a:endParaRPr sz="2880"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21318E29-3448-17A7-96FE-6E5D3B3D53BA}"/>
                </a:ext>
              </a:extLst>
            </p:cNvPr>
            <p:cNvSpPr txBox="1"/>
            <p:nvPr/>
          </p:nvSpPr>
          <p:spPr>
            <a:xfrm>
              <a:off x="0" y="822582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15800" tIns="115800" rIns="115800" bIns="115800" anchor="ctr" anchorCtr="0">
              <a:noAutofit/>
            </a:bodyPr>
            <a:lstStyle/>
            <a:p>
              <a:pPr lvl="0" algn="just">
                <a:lnSpc>
                  <a:spcPct val="90000"/>
                </a:lnSpc>
                <a:buSzPts val="1900"/>
              </a:pPr>
              <a:endPara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036DE99A-9A91-9F25-185B-5621E9B198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4535" y="1782960"/>
            <a:ext cx="12801600" cy="466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80" tIns="73120" rIns="146280" bIns="73120" anchor="t" anchorCtr="0">
            <a:normAutofit/>
          </a:bodyPr>
          <a:lstStyle/>
          <a:p>
            <a:pPr marL="548640" indent="-54864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48640" indent="-548640" algn="just">
              <a:lnSpc>
                <a:spcPct val="10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C4837C-6006-3C8E-C82A-716D4966AD9E}"/>
              </a:ext>
            </a:extLst>
          </p:cNvPr>
          <p:cNvSpPr txBox="1"/>
          <p:nvPr/>
        </p:nvSpPr>
        <p:spPr>
          <a:xfrm>
            <a:off x="1034264" y="1879367"/>
            <a:ext cx="1245075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Enhancements:</a:t>
            </a:r>
          </a:p>
          <a:p>
            <a:pPr marL="114300" indent="0">
              <a:buNone/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211D66-FF9E-89E5-60F0-78D3DE3AAF5E}"/>
              </a:ext>
            </a:extLst>
          </p:cNvPr>
          <p:cNvSpPr txBox="1"/>
          <p:nvPr/>
        </p:nvSpPr>
        <p:spPr>
          <a:xfrm>
            <a:off x="1145378" y="963038"/>
            <a:ext cx="4681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SmartHealthCare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C1C23C2-DA31-D68F-CD2F-4B9C1915E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5378" y="2229529"/>
            <a:ext cx="8959056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Integration of </a:t>
            </a:r>
            <a:r>
              <a:rPr lang="en-US" sz="2800" b="1" dirty="0"/>
              <a:t>AI-based diagnosis support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Real-time </a:t>
            </a:r>
            <a:r>
              <a:rPr lang="en-US" sz="2800" b="1" dirty="0"/>
              <a:t>doctor-patient chat and video consultation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Advanced analytics for patient health trends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Automated reminders for appointments and medications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416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16800" y="2275240"/>
            <a:ext cx="12801600" cy="466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80" tIns="73120" rIns="146280" bIns="73120" anchor="t" anchorCtr="0">
            <a:normAutofit/>
          </a:bodyPr>
          <a:lstStyle/>
          <a:p>
            <a:pPr marL="548640" indent="-54864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48640" indent="-548640" algn="just">
              <a:lnSpc>
                <a:spcPct val="10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616801" y="3472265"/>
            <a:ext cx="13554494" cy="1920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80" tIns="73120" rIns="146280" bIns="73120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2800" b="1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86127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335</Words>
  <Application>Microsoft Office PowerPoint</Application>
  <PresentationFormat>Custom</PresentationFormat>
  <Paragraphs>95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Vladimir Script</vt:lpstr>
      <vt:lpstr>Arial</vt:lpstr>
      <vt:lpstr>Cambria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lastModifiedBy>Shivansh Agrawal</cp:lastModifiedBy>
  <cp:revision>8</cp:revision>
  <dcterms:created xsi:type="dcterms:W3CDTF">2025-12-05T07:55:53Z</dcterms:created>
  <dcterms:modified xsi:type="dcterms:W3CDTF">2026-04-25T04:04:19Z</dcterms:modified>
</cp:coreProperties>
</file>